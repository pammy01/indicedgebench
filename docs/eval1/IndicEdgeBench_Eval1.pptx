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17c21d5-0c04-c975-eac1-ecaabd8806ef}">
          <p14:sldIdLst>
            <p14:sldId id="256"/>
            <p14:sldId id="257"/>
          </p14:sldIdLst>
        </p14:section>
        <p14:section name="Background" id="{14dff461-e53f-e8b4-4c1c-e04653349736}">
          <p14:sldIdLst>
            <p14:sldId id="258"/>
            <p14:sldId id="259"/>
          </p14:sldIdLst>
        </p14:section>
        <p14:section name="Design" id="{959f17e2-98e2-35c3-4b37-113ed6a1d852}">
          <p14:sldIdLst>
            <p14:sldId id="260"/>
            <p14:sldId id="261"/>
            <p14:sldId id="262"/>
          </p14:sldIdLst>
        </p14:section>
        <p14:section name="Pilot results" id="{7ac776a5-be3c-2c0b-c8fe-8caee4e0e227}">
          <p14:sldIdLst>
            <p14:sldId id="263"/>
            <p14:sldId id="264"/>
            <p14:sldId id="265"/>
          </p14:sldIdLst>
        </p14:section>
        <p14:section name="Plan" id="{ea56461d-cb65-686c-99e6-76bf8ad0da2e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one question the project answers. Everything that follows is about measuring both halves of the trade-off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5.5x number comes from our own pilot: decode tokens per second divided by tokenizer fertility.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 benchmarks evaluate only full-precision models; on-device benchmarks evaluate only English. That empty cell is our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Qwen2.5-0.5B on Apple M3 CPU; Q8_0 is the baseline because the F16 download was paused. 30 items gives wide CIs (about ±17 points), which is why the laptop pilot uses 200 MILU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IndicEdgeBench · Evaluation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IndicEdgeBench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much Indian-language quality do small LLMs lose when compressed to run on a laptop CPU, and what do we gain?</a:t>
            </a:r>
            <a:endParaRPr lang="en-US" sz="18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Final-year capstone · Evaluation 1 · Pammy · 31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offline AI in Indian languages has a hidden cost</a:t>
            </a:r>
            <a:endParaRPr lang="en-US" sz="3200" dirty="0"/>
          </a:p>
        </p:txBody>
      </p:sp>
      <p:sp>
        <p:nvSpPr>
          <p:cNvPr id="3" name="problem-bullets"/>
          <p:cNvSpPr txBox="1"/>
          <p:nvPr/>
        </p:nvSpPr>
        <p:spPr>
          <a:xfrm>
            <a:off x="548640" y="137160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Offline, private AI on the phones and laptops Indians actually own needs small (≤ 8B) models.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 fit, models are quantized (16-bit → 8, 4 or 2 bits) and run on CPU runtimes like llama.cpp.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Indian scripts are low-resource and split into many more tokens, so compression is expected to hurt them most.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Nobody has measured how much quality is lost against how much speed, memory and energy is gained in Indic languages.</a:t>
            </a:r>
            <a:endParaRPr lang="en-US" sz="1600" dirty="0"/>
          </a:p>
        </p:txBody>
      </p:sp>
      <p:sp>
        <p:nvSpPr>
          <p:cNvPr id="4" name="stat-card"/>
          <p:cNvSpPr/>
          <p:nvPr/>
        </p:nvSpPr>
        <p:spPr>
          <a:xfrm>
            <a:off x="7589520" y="146304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5" name="stat-number"/>
          <p:cNvSpPr txBox="1"/>
          <p:nvPr/>
        </p:nvSpPr>
        <p:spPr>
          <a:xfrm>
            <a:off x="786384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5.5×</a:t>
            </a:r>
            <a:endParaRPr lang="en-US" sz="7200" dirty="0"/>
          </a:p>
        </p:txBody>
      </p:sp>
      <p:sp>
        <p:nvSpPr>
          <p:cNvPr id="6" name="stat-label"/>
          <p:cNvSpPr txBox="1"/>
          <p:nvPr/>
        </p:nvSpPr>
        <p:spPr>
          <a:xfrm>
            <a:off x="7863840" y="3200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fewer words per second for Tamil than English, from the same model on the same CPU (our pilot)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Literature: each half is studied, never both together</a:t>
            </a:r>
            <a:endParaRPr lang="en-US" sz="3200" dirty="0"/>
          </a:p>
        </p:txBody>
      </p:sp>
      <p:graphicFrame>
        <p:nvGraphicFramePr>
          <p:cNvPr id="4" name="ga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737360"/>
                <a:gridCol w="192024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Indic tasks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Quantization sweep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Measured CPU latency / RAM / energy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MILU, IndicParam, IndicGenBench, IndicRAGSuite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Marchisio et al. 2024: Quantization &amp; multilingual LLMs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Marie &amp; Fujita 2025: PTQ in machine translation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MT 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Multilingual Quantization Tax 2026 (preprint)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PalmBench, Song et al. 2025, RooflineBench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1C1C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55"/>
                          </a:solidFill>
                        </a:rPr>
                        <a:t>IndicEdgeBench (this project)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55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55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55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</a:tr>
            </a:tbl>
          </a:graphicData>
        </a:graphic>
      </p:graphicFrame>
      <p:sp>
        <p:nvSpPr>
          <p:cNvPr id="4" name="gap-note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Key evidence: a 1.7% automatic drop in Japanese hid a 16% drop in human ratings (Marchisio et al.); Indic MT can collapse entirely under PTQ (Marie &amp; Fujita). All 20 references verified on arXiv; see docs/literature_survey.md.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obj-dot-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obj-num-1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obj-text-1"/>
          <p:cNvSpPr txBox="1"/>
          <p:nvPr/>
        </p:nvSpPr>
        <p:spPr>
          <a:xfrm>
            <a:off x="1463040" y="13716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 harness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Score quantized GGUF models on Indic MCQs and measure CPU efficiency in one run</a:t>
            </a:r>
            <a:endParaRPr lang="en-US" sz="1800" dirty="0"/>
          </a:p>
        </p:txBody>
      </p:sp>
      <p:sp>
        <p:nvSpPr>
          <p:cNvPr id="6" name="obj-dot-2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obj-num-2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obj-text-2"/>
          <p:cNvSpPr txBox="1"/>
          <p:nvPr/>
        </p:nvSpPr>
        <p:spPr>
          <a:xfrm>
            <a:off x="1463040" y="23317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Quality loss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Per-language accuracy drop at F16 → Q8 → Q4 → Q2, with CIs and flip rates</a:t>
            </a:r>
            <a:endParaRPr lang="en-US" sz="1800" dirty="0"/>
          </a:p>
        </p:txBody>
      </p:sp>
      <p:sp>
        <p:nvSpPr>
          <p:cNvPr id="9" name="obj-dot-3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obj-num-3"/>
          <p:cNvSpPr txBox="1"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obj-text-3"/>
          <p:cNvSpPr txBox="1"/>
          <p:nvPr/>
        </p:nvSpPr>
        <p:spPr>
          <a:xfrm>
            <a:off x="1463040" y="32918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Efficiency gain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Speed, time-to-first-token, peak RAM and energy per configuration</a:t>
            </a:r>
            <a:endParaRPr lang="en-US" sz="1800" dirty="0"/>
          </a:p>
        </p:txBody>
      </p:sp>
      <p:sp>
        <p:nvSpPr>
          <p:cNvPr id="12" name="obj-dot-4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obj-num-4"/>
          <p:cNvSpPr txBox="1"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obj-text-4"/>
          <p:cNvSpPr txBox="1"/>
          <p:nvPr/>
        </p:nvSpPr>
        <p:spPr>
          <a:xfrm>
            <a:off x="1463040" y="4251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Tokenizer tax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Fertility (tokens/word) and the words/s a user actually experiences</a:t>
            </a:r>
            <a:endParaRPr lang="en-US" sz="1800" dirty="0"/>
          </a:p>
        </p:txBody>
      </p:sp>
      <p:sp>
        <p:nvSpPr>
          <p:cNvPr id="15" name="obj-dot-5"/>
          <p:cNvSpPr/>
          <p:nvPr/>
        </p:nvSpPr>
        <p:spPr>
          <a:xfrm>
            <a:off x="548640" y="5303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obj-num-5"/>
          <p:cNvSpPr txBox="1"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obj-text-5"/>
          <p:cNvSpPr txBox="1"/>
          <p:nvPr/>
        </p:nvSpPr>
        <p:spPr>
          <a:xfrm>
            <a:off x="1463040" y="5212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Pareto frontier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Quality-vs-efficiency curves per language, released on GitHub and Hugging Face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five layers, one command</a:t>
            </a:r>
            <a:endParaRPr lang="en-US" sz="3200" dirty="0"/>
          </a:p>
        </p:txBody>
      </p:sp>
      <p:sp>
        <p:nvSpPr>
          <p:cNvPr id="3" name="layer-1"/>
          <p:cNvSpPr/>
          <p:nvPr/>
        </p:nvSpPr>
        <p:spPr>
          <a:xfrm>
            <a:off x="548640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layer-num-1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layer-text-1"/>
          <p:cNvSpPr txBox="1"/>
          <p:nvPr/>
        </p:nvSpPr>
        <p:spPr>
          <a:xfrm>
            <a:off x="731520" y="22860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MILU (11 langs) or bundled 30-item parallel set → frozen, seeded sample</a:t>
            </a:r>
            <a:endParaRPr lang="en-US" sz="1700" dirty="0"/>
          </a:p>
        </p:txBody>
      </p:sp>
      <p:sp>
        <p:nvSpPr>
          <p:cNvPr id="6" name="layer-arrow-1"/>
          <p:cNvSpPr/>
          <p:nvPr/>
        </p:nvSpPr>
        <p:spPr>
          <a:xfrm>
            <a:off x="2633472" y="2926080"/>
            <a:ext cx="137160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7" name="layer-2"/>
          <p:cNvSpPr/>
          <p:nvPr/>
        </p:nvSpPr>
        <p:spPr>
          <a:xfrm>
            <a:off x="2798064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layer-num-2"/>
          <p:cNvSpPr txBox="1"/>
          <p:nvPr/>
        </p:nvSpPr>
        <p:spPr>
          <a:xfrm>
            <a:off x="29809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layer-text-2"/>
          <p:cNvSpPr txBox="1"/>
          <p:nvPr/>
        </p:nvSpPr>
        <p:spPr>
          <a:xfrm>
            <a:off x="2980944" y="22860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GGUF from Hugging Face: F16 · Q8_0 · Q4_K_M · Q2_K</a:t>
            </a:r>
            <a:endParaRPr lang="en-US" sz="1700" dirty="0"/>
          </a:p>
        </p:txBody>
      </p:sp>
      <p:sp>
        <p:nvSpPr>
          <p:cNvPr id="10" name="layer-arrow-2"/>
          <p:cNvSpPr/>
          <p:nvPr/>
        </p:nvSpPr>
        <p:spPr>
          <a:xfrm>
            <a:off x="4882896" y="2926080"/>
            <a:ext cx="137160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1" name="layer-3"/>
          <p:cNvSpPr/>
          <p:nvPr/>
        </p:nvSpPr>
        <p:spPr>
          <a:xfrm>
            <a:off x="5047488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FDEBD9"/>
          </a:solidFill>
          <a:ln/>
        </p:spPr>
      </p:sp>
      <p:sp>
        <p:nvSpPr>
          <p:cNvPr id="12" name="layer-num-3"/>
          <p:cNvSpPr txBox="1"/>
          <p:nvPr/>
        </p:nvSpPr>
        <p:spPr>
          <a:xfrm>
            <a:off x="523036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layer-text-3"/>
          <p:cNvSpPr txBox="1"/>
          <p:nvPr/>
        </p:nvSpPr>
        <p:spPr>
          <a:xfrm>
            <a:off x="5230368" y="22860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Runtime &amp; meters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llama.cpp on CPU, one fresh process per config; RAM, energy, timing</a:t>
            </a:r>
            <a:endParaRPr lang="en-US" sz="1700" dirty="0"/>
          </a:p>
        </p:txBody>
      </p:sp>
      <p:sp>
        <p:nvSpPr>
          <p:cNvPr id="14" name="layer-arrow-3"/>
          <p:cNvSpPr/>
          <p:nvPr/>
        </p:nvSpPr>
        <p:spPr>
          <a:xfrm>
            <a:off x="7132320" y="2926080"/>
            <a:ext cx="137160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5" name="layer-4"/>
          <p:cNvSpPr/>
          <p:nvPr/>
        </p:nvSpPr>
        <p:spPr>
          <a:xfrm>
            <a:off x="7296912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layer-num-4"/>
          <p:cNvSpPr txBox="1"/>
          <p:nvPr/>
        </p:nvSpPr>
        <p:spPr>
          <a:xfrm>
            <a:off x="747979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layer-text-4"/>
          <p:cNvSpPr txBox="1"/>
          <p:nvPr/>
        </p:nvSpPr>
        <p:spPr>
          <a:xfrm>
            <a:off x="7479792" y="22860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Evaluation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Letter log-likelihood scoring; bootstrap CI, paired Δ, flip rate, words/s</a:t>
            </a:r>
            <a:endParaRPr lang="en-US" sz="1700" dirty="0"/>
          </a:p>
        </p:txBody>
      </p:sp>
      <p:sp>
        <p:nvSpPr>
          <p:cNvPr id="18" name="layer-arrow-4"/>
          <p:cNvSpPr/>
          <p:nvPr/>
        </p:nvSpPr>
        <p:spPr>
          <a:xfrm>
            <a:off x="9381744" y="2926080"/>
            <a:ext cx="137160" cy="2743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9" name="layer-5"/>
          <p:cNvSpPr/>
          <p:nvPr/>
        </p:nvSpPr>
        <p:spPr>
          <a:xfrm>
            <a:off x="9546336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" name="layer-num-5"/>
          <p:cNvSpPr txBox="1"/>
          <p:nvPr/>
        </p:nvSpPr>
        <p:spPr>
          <a:xfrm>
            <a:off x="97292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layer-text-5"/>
          <p:cNvSpPr txBox="1"/>
          <p:nvPr/>
        </p:nvSpPr>
        <p:spPr>
          <a:xfrm>
            <a:off x="9729216" y="228600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Release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summary.csv, REPORT.md, plots; later HF dataset + leaderboard</a:t>
            </a:r>
            <a:endParaRPr lang="en-US" sz="1700" dirty="0"/>
          </a:p>
        </p:txBody>
      </p:sp>
      <p:sp>
        <p:nvSpPr>
          <p:cNvPr id="22" name="cli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indicedgebench run configs/pilot.yaml</a:t>
            </a:r>
            <a:endParaRPr lang="en-US" sz="1600" dirty="0"/>
          </a:p>
        </p:txBody>
      </p:sp>
      <p:sp>
        <p:nvSpPr>
          <p:cNvPr id="23" name="cli-note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Resumable · config-driven · cross-platform (macOS dev, Windows 11 laptop runs) · 17 unit tests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method-Quality"/>
          <p:cNvSpPr/>
          <p:nvPr/>
        </p:nvSpPr>
        <p:spPr>
          <a:xfrm>
            <a:off x="54864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method-h-Quality"/>
          <p:cNvSpPr txBox="1"/>
          <p:nvPr/>
        </p:nvSpPr>
        <p:spPr>
          <a:xfrm>
            <a:off x="7772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Quality</a:t>
            </a:r>
            <a:endParaRPr lang="en-US" sz="2000" dirty="0"/>
          </a:p>
        </p:txBody>
      </p:sp>
      <p:sp>
        <p:nvSpPr>
          <p:cNvPr id="5" name="method-b-Quality"/>
          <p:cNvSpPr txBox="1"/>
          <p:nvPr/>
        </p:nvSpPr>
        <p:spPr>
          <a:xfrm>
            <a:off x="777240" y="21031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ends in “Answer:”; pick the A–D letter with the highest next-token logit (lm-eval-harness style)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Deterministic, no answer parsing: robust for small models in Indic languages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Identical frozen items for every config</a:t>
            </a:r>
            <a:endParaRPr lang="en-US" sz="1400" dirty="0"/>
          </a:p>
        </p:txBody>
      </p:sp>
      <p:sp>
        <p:nvSpPr>
          <p:cNvPr id="6" name="method-Statistics"/>
          <p:cNvSpPr/>
          <p:nvPr/>
        </p:nvSpPr>
        <p:spPr>
          <a:xfrm>
            <a:off x="429768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method-h-Statistics"/>
          <p:cNvSpPr txBox="1"/>
          <p:nvPr/>
        </p:nvSpPr>
        <p:spPr>
          <a:xfrm>
            <a:off x="452628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Statistics</a:t>
            </a:r>
            <a:endParaRPr lang="en-US" sz="2000" dirty="0"/>
          </a:p>
        </p:txBody>
      </p:sp>
      <p:sp>
        <p:nvSpPr>
          <p:cNvPr id="8" name="method-b-Statistics"/>
          <p:cNvSpPr txBox="1"/>
          <p:nvPr/>
        </p:nvSpPr>
        <p:spPr>
          <a:xfrm>
            <a:off x="4526280" y="21031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95% bootstrap CIs (1,000 resamples, fixed seed)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Paired bootstrap Δ vs. baseline on the same items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Flip rate: share of answers that change under quantization</a:t>
            </a:r>
            <a:endParaRPr lang="en-US" sz="1400" dirty="0"/>
          </a:p>
        </p:txBody>
      </p:sp>
      <p:sp>
        <p:nvSpPr>
          <p:cNvPr id="9" name="method-Efficiency"/>
          <p:cNvSpPr/>
          <p:nvPr/>
        </p:nvSpPr>
        <p:spPr>
          <a:xfrm>
            <a:off x="8046720" y="13716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method-h-Efficiency"/>
          <p:cNvSpPr txBox="1"/>
          <p:nvPr/>
        </p:nvSpPr>
        <p:spPr>
          <a:xfrm>
            <a:off x="827532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Efficiency</a:t>
            </a:r>
            <a:endParaRPr lang="en-US" sz="2000" dirty="0"/>
          </a:p>
        </p:txBody>
      </p:sp>
      <p:sp>
        <p:nvSpPr>
          <p:cNvPr id="11" name="method-b-Efficiency"/>
          <p:cNvSpPr txBox="1"/>
          <p:nvPr/>
        </p:nvSpPr>
        <p:spPr>
          <a:xfrm>
            <a:off x="8275320" y="21031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Fresh process per config; warm-up before timing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Fixed 64-token greedy decode, 3 repeats, median ± std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 RSS sampled every 20 ms; energy = RAPL or labelled estimate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status (v0.1)</a:t>
            </a:r>
            <a:endParaRPr lang="en-US" sz="3200" dirty="0"/>
          </a:p>
        </p:txBody>
      </p:sp>
      <p:sp>
        <p:nvSpPr>
          <p:cNvPr id="3" name="done-card"/>
          <p:cNvSpPr/>
          <p:nvPr/>
        </p:nvSpPr>
        <p:spPr>
          <a:xfrm>
            <a:off x="548640" y="1371600"/>
            <a:ext cx="548640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4" name="next-card"/>
          <p:cNvSpPr/>
          <p:nvPr/>
        </p:nvSpPr>
        <p:spPr>
          <a:xfrm>
            <a:off x="6309360" y="13716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DEBD9"/>
          </a:solidFill>
          <a:ln/>
        </p:spPr>
      </p:sp>
      <p:sp>
        <p:nvSpPr>
          <p:cNvPr id="5" name="done-h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Done for Evaluation 1</a:t>
            </a:r>
            <a:endParaRPr lang="en-US" sz="2000" dirty="0"/>
          </a:p>
        </p:txBody>
      </p:sp>
      <p:sp>
        <p:nvSpPr>
          <p:cNvPr id="6" name="done-list"/>
          <p:cNvSpPr txBox="1"/>
          <p:nvPr/>
        </p:nvSpPr>
        <p:spPr>
          <a:xfrm>
            <a:off x="777240" y="20116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Config-driven sweep runner (resumable)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MILU loader + 30-item parallel en/hi/ta 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llama.cpp engine: MCQ scoring + generation timing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Memory, energy and fertility meters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Statistics: bootstrap CI, paired Δ, flip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Report: CSV, Markdown, 4 plots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Windows + macOS setup scripts, 17 tests</a:t>
            </a:r>
            <a:endParaRPr lang="en-US" sz="1500" dirty="0"/>
          </a:p>
        </p:txBody>
      </p:sp>
      <p:sp>
        <p:nvSpPr>
          <p:cNvPr id="7" name="next-h"/>
          <p:cNvSpPr txBox="1"/>
          <p:nvPr/>
        </p:nvSpPr>
        <p:spPr>
          <a:xfrm>
            <a:off x="6537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Next</a:t>
            </a:r>
            <a:endParaRPr lang="en-US" sz="2000" dirty="0"/>
          </a:p>
        </p:txBody>
      </p:sp>
      <p:sp>
        <p:nvSpPr>
          <p:cNvPr id="8" name="next-list"/>
          <p:cNvSpPr txBox="1"/>
          <p:nvPr/>
        </p:nvSpPr>
        <p:spPr>
          <a:xfrm>
            <a:off x="6537960" y="20116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Pilot on Windows laptop: Qwen2.5-1.5B + Llama-3.2-1B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MILU with 200 items per language (HF token)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Native-speaker validation of the item 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More languages (Telugu, Bengali, Marathi)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ONNX INT8 runtime, Android phone measurements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Pilot: Indic accuracy sits near chance; English degrades steadily</a:t>
            </a:r>
            <a:endParaRPr lang="en-US" sz="3200" dirty="0"/>
          </a:p>
        </p:txBody>
      </p:sp>
      <p:pic>
        <p:nvPicPr>
          <p:cNvPr id="3" name="acc-chart" descr="Accuracy by quantization level for English, Hindi and Tamil with 95% confidence interv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895344"/>
          </a:xfrm>
          <a:prstGeom prst="rect">
            <a:avLst/>
          </a:prstGeom>
        </p:spPr>
      </p:pic>
      <p:sp>
        <p:nvSpPr>
          <p:cNvPr id="4" name="acc-takeaways"/>
          <p:cNvSpPr/>
          <p:nvPr/>
        </p:nvSpPr>
        <p:spPr>
          <a:xfrm>
            <a:off x="7772400" y="1371600"/>
            <a:ext cx="3840480" cy="3895344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acc-bullets"/>
          <p:cNvSpPr txBox="1"/>
          <p:nvPr/>
        </p:nvSpPr>
        <p:spPr>
          <a:xfrm>
            <a:off x="8001000" y="1554480"/>
            <a:ext cx="3429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English: 63% → 47% from Q8 to Q2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Hindi 23% and Tamil 30% are already near chance (25%) at Q8: a 0.5B model barely understands them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Flip rate at Q4: 67% of Hindi and 73% of Tamil answers change vs. 20% in English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Flat accuracy can hide unstable answers; flip rate exposes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tokenizer tax: same speed in tokens, 5× slower in words</a:t>
            </a:r>
            <a:endParaRPr lang="en-US" sz="3200" dirty="0"/>
          </a:p>
        </p:txBody>
      </p:sp>
      <p:pic>
        <p:nvPicPr>
          <p:cNvPr id="3" name="fert-chart" descr="Tokenizer fertility: English 1.6, Hindi 4.7, Tamil 8.3 tokens per w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94960" cy="2734056"/>
          </a:xfrm>
          <a:prstGeom prst="rect">
            <a:avLst/>
          </a:prstGeom>
        </p:spPr>
      </p:pic>
      <p:pic>
        <p:nvPicPr>
          <p:cNvPr id="4" name="wps-chart" descr="Words per second: English 85, Hindi 29, Tamil 1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94960" cy="2734056"/>
          </a:xfrm>
          <a:prstGeom prst="rect">
            <a:avLst/>
          </a:prstGeom>
        </p:spPr>
      </p:pic>
      <p:sp>
        <p:nvSpPr>
          <p:cNvPr id="5" name="tax-stat-0"/>
          <p:cNvSpPr/>
          <p:nvPr/>
        </p:nvSpPr>
        <p:spPr>
          <a:xfrm>
            <a:off x="548640" y="443484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tax-n-0"/>
          <p:cNvSpPr txBox="1"/>
          <p:nvPr/>
        </p:nvSpPr>
        <p:spPr>
          <a:xfrm>
            <a:off x="731520" y="4480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128–138</a:t>
            </a:r>
            <a:endParaRPr lang="en-US" sz="2600" dirty="0"/>
          </a:p>
        </p:txBody>
      </p:sp>
      <p:sp>
        <p:nvSpPr>
          <p:cNvPr id="7" name="tax-l-0"/>
          <p:cNvSpPr txBox="1"/>
          <p:nvPr/>
        </p:nvSpPr>
        <p:spPr>
          <a:xfrm>
            <a:off x="731520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tokens/s decode in every language: the CPU is not the difference</a:t>
            </a:r>
            <a:endParaRPr lang="en-US" sz="1300" dirty="0"/>
          </a:p>
        </p:txBody>
      </p:sp>
      <p:sp>
        <p:nvSpPr>
          <p:cNvPr id="8" name="tax-stat-1"/>
          <p:cNvSpPr/>
          <p:nvPr/>
        </p:nvSpPr>
        <p:spPr>
          <a:xfrm>
            <a:off x="4297680" y="443484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tax-n-1"/>
          <p:cNvSpPr txBox="1"/>
          <p:nvPr/>
        </p:nvSpPr>
        <p:spPr>
          <a:xfrm>
            <a:off x="4480560" y="4480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2.1×</a:t>
            </a:r>
            <a:endParaRPr lang="en-US" sz="2600" dirty="0"/>
          </a:p>
        </p:txBody>
      </p:sp>
      <p:sp>
        <p:nvSpPr>
          <p:cNvPr id="10" name="tax-l-1"/>
          <p:cNvSpPr txBox="1"/>
          <p:nvPr/>
        </p:nvSpPr>
        <p:spPr>
          <a:xfrm>
            <a:off x="4480560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energy per Tamil question vs. English (estimated)</a:t>
            </a:r>
            <a:endParaRPr lang="en-US" sz="1300" dirty="0"/>
          </a:p>
        </p:txBody>
      </p:sp>
      <p:sp>
        <p:nvSpPr>
          <p:cNvPr id="11" name="tax-stat-2"/>
          <p:cNvSpPr/>
          <p:nvPr/>
        </p:nvSpPr>
        <p:spPr>
          <a:xfrm>
            <a:off x="8046720" y="443484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tax-n-2"/>
          <p:cNvSpPr txBox="1"/>
          <p:nvPr/>
        </p:nvSpPr>
        <p:spPr>
          <a:xfrm>
            <a:off x="8229600" y="4480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vs 52 ms</a:t>
            </a:r>
            <a:endParaRPr lang="en-US" sz="2600" dirty="0"/>
          </a:p>
        </p:txBody>
      </p:sp>
      <p:sp>
        <p:nvSpPr>
          <p:cNvPr id="13" name="tax-l-2"/>
          <p:cNvSpPr txBox="1"/>
          <p:nvPr/>
        </p:nvSpPr>
        <p:spPr>
          <a:xfrm>
            <a:off x="8229600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 to first token, Tamil vs. English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compression buys at 0.5B: memory, not speed</a:t>
            </a:r>
            <a:endParaRPr lang="en-US" sz="3200" dirty="0"/>
          </a:p>
        </p:txBody>
      </p:sp>
      <p:pic>
        <p:nvPicPr>
          <p:cNvPr id="3" name="mem-chart" descr="Model file size and peak RAM for Q8_0, Q4_K_M and Q2_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895344"/>
          </a:xfrm>
          <a:prstGeom prst="rect">
            <a:avLst/>
          </a:prstGeom>
        </p:spPr>
      </p:pic>
      <p:sp>
        <p:nvSpPr>
          <p:cNvPr id="4" name="mem-takeaways"/>
          <p:cNvSpPr/>
          <p:nvPr/>
        </p:nvSpPr>
        <p:spPr>
          <a:xfrm>
            <a:off x="7772400" y="1371600"/>
            <a:ext cx="3840480" cy="3895344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mem-bullets"/>
          <p:cNvSpPr txBox="1"/>
          <p:nvPr/>
        </p:nvSpPr>
        <p:spPr>
          <a:xfrm>
            <a:off x="8001000" y="1554480"/>
            <a:ext cx="3429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Q4_K_M cuts peak RAM by 36% vs. Q8_0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Q2_K saves almost nothing more: runtime buffers dominate at this size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Decode speed barely moves (~130–140 tokens/s): a 0.5B model is not memory-bandwidth bound on the M3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Larger 1–1.5B models on the Intel laptop should show the speed gain; that is the next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 of the pilot</a:t>
            </a:r>
            <a:endParaRPr lang="en-US" sz="3200" dirty="0"/>
          </a:p>
        </p:txBody>
      </p:sp>
      <p:sp>
        <p:nvSpPr>
          <p:cNvPr id="3" name="lim-0"/>
          <p:cNvSpPr/>
          <p:nvPr/>
        </p:nvSpPr>
        <p:spPr>
          <a:xfrm>
            <a:off x="548640" y="137160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" name="lim-h-0"/>
          <p:cNvSpPr txBox="1"/>
          <p:nvPr/>
        </p:nvSpPr>
        <p:spPr>
          <a:xfrm>
            <a:off x="777240" y="13716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30 items</a:t>
            </a:r>
            <a:endParaRPr lang="en-US" sz="1700" dirty="0"/>
          </a:p>
        </p:txBody>
      </p:sp>
      <p:sp>
        <p:nvSpPr>
          <p:cNvPr id="5" name="lim-d-0"/>
          <p:cNvSpPr txBox="1"/>
          <p:nvPr/>
        </p:nvSpPr>
        <p:spPr>
          <a:xfrm>
            <a:off x="3200400" y="13716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Wide confidence intervals (about ±17 points). Fix: MILU, 200+ items per language.</a:t>
            </a:r>
            <a:endParaRPr lang="en-US" sz="1500" dirty="0"/>
          </a:p>
        </p:txBody>
      </p:sp>
      <p:sp>
        <p:nvSpPr>
          <p:cNvPr id="6" name="lim-1"/>
          <p:cNvSpPr/>
          <p:nvPr/>
        </p:nvSpPr>
        <p:spPr>
          <a:xfrm>
            <a:off x="548640" y="2304288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</p:spPr>
      </p:sp>
      <p:sp>
        <p:nvSpPr>
          <p:cNvPr id="7" name="lim-h-1"/>
          <p:cNvSpPr txBox="1"/>
          <p:nvPr/>
        </p:nvSpPr>
        <p:spPr>
          <a:xfrm>
            <a:off x="777240" y="230428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0.5B model</a:t>
            </a:r>
            <a:endParaRPr lang="en-US" sz="1700" dirty="0"/>
          </a:p>
        </p:txBody>
      </p:sp>
      <p:sp>
        <p:nvSpPr>
          <p:cNvPr id="8" name="lim-d-1"/>
          <p:cNvSpPr txBox="1"/>
          <p:nvPr/>
        </p:nvSpPr>
        <p:spPr>
          <a:xfrm>
            <a:off x="3200400" y="230428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Too small for Indic: near-chance accuracy hides quantization effects. Fix: 1–1.5B models next.</a:t>
            </a:r>
            <a:endParaRPr lang="en-US" sz="1500" dirty="0"/>
          </a:p>
        </p:txBody>
      </p:sp>
      <p:sp>
        <p:nvSpPr>
          <p:cNvPr id="9" name="lim-2"/>
          <p:cNvSpPr/>
          <p:nvPr/>
        </p:nvSpPr>
        <p:spPr>
          <a:xfrm>
            <a:off x="548640" y="3236976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0" name="lim-h-2"/>
          <p:cNvSpPr txBox="1"/>
          <p:nvPr/>
        </p:nvSpPr>
        <p:spPr>
          <a:xfrm>
            <a:off x="777240" y="323697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Q8 baseline</a:t>
            </a:r>
            <a:endParaRPr lang="en-US" sz="1700" dirty="0"/>
          </a:p>
        </p:txBody>
      </p:sp>
      <p:sp>
        <p:nvSpPr>
          <p:cNvPr id="11" name="lim-d-2"/>
          <p:cNvSpPr txBox="1"/>
          <p:nvPr/>
        </p:nvSpPr>
        <p:spPr>
          <a:xfrm>
            <a:off x="3200400" y="3236976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F16 download paused on the dev Mac. Fix: F16 baseline in the laptop pilot.</a:t>
            </a:r>
            <a:endParaRPr lang="en-US" sz="1500" dirty="0"/>
          </a:p>
        </p:txBody>
      </p:sp>
      <p:sp>
        <p:nvSpPr>
          <p:cNvPr id="12" name="lim-3"/>
          <p:cNvSpPr/>
          <p:nvPr/>
        </p:nvSpPr>
        <p:spPr>
          <a:xfrm>
            <a:off x="548640" y="4169664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</p:spPr>
      </p:sp>
      <p:sp>
        <p:nvSpPr>
          <p:cNvPr id="13" name="lim-h-3"/>
          <p:cNvSpPr txBox="1"/>
          <p:nvPr/>
        </p:nvSpPr>
        <p:spPr>
          <a:xfrm>
            <a:off x="777240" y="416966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Energy</a:t>
            </a:r>
            <a:endParaRPr lang="en-US" sz="1700" dirty="0"/>
          </a:p>
        </p:txBody>
      </p:sp>
      <p:sp>
        <p:nvSpPr>
          <p:cNvPr id="14" name="lim-d-3"/>
          <p:cNvSpPr txBox="1"/>
          <p:nvPr/>
        </p:nvSpPr>
        <p:spPr>
          <a:xfrm>
            <a:off x="3200400" y="4169664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Estimated from CPU time × TDP on macOS/Windows. Fix: RAPL on Linux, battery drain on phone.</a:t>
            </a:r>
            <a:endParaRPr lang="en-US" sz="1500" dirty="0"/>
          </a:p>
        </p:txBody>
      </p:sp>
      <p:sp>
        <p:nvSpPr>
          <p:cNvPr id="15" name="lim-4"/>
          <p:cNvSpPr/>
          <p:nvPr/>
        </p:nvSpPr>
        <p:spPr>
          <a:xfrm>
            <a:off x="548640" y="5102352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6" name="lim-h-4"/>
          <p:cNvSpPr txBox="1"/>
          <p:nvPr/>
        </p:nvSpPr>
        <p:spPr>
          <a:xfrm>
            <a:off x="777240" y="51023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Item validity</a:t>
            </a:r>
            <a:endParaRPr lang="en-US" sz="1700" dirty="0"/>
          </a:p>
        </p:txBody>
      </p:sp>
      <p:sp>
        <p:nvSpPr>
          <p:cNvPr id="17" name="lim-d-4"/>
          <p:cNvSpPr txBox="1"/>
          <p:nvPr/>
        </p:nvSpPr>
        <p:spPr>
          <a:xfrm>
            <a:off x="3200400" y="510235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Hindi/Tamil items not yet native-speaker validated. Fix: annotation protocol, IAA ≥ 0.6.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the final evaluation</a:t>
            </a:r>
            <a:endParaRPr lang="en-US" sz="3200" dirty="0"/>
          </a:p>
        </p:txBody>
      </p:sp>
      <p:sp>
        <p:nvSpPr>
          <p:cNvPr id="3" name="timeline-line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38100">
            <a:solidFill>
              <a:srgbClr val="E4E3DF"/>
            </a:solidFill>
            <a:prstDash val="solid"/>
          </a:ln>
        </p:spPr>
      </p:sp>
      <p:sp>
        <p:nvSpPr>
          <p:cNvPr id="4" name="tl-dot-0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l-when-0"/>
          <p:cNvSpPr txBox="1"/>
          <p:nvPr/>
        </p:nvSpPr>
        <p:spPr>
          <a:xfrm>
            <a:off x="5486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Weeks 1–4</a:t>
            </a:r>
            <a:endParaRPr lang="en-US" sz="1700" dirty="0"/>
          </a:p>
        </p:txBody>
      </p:sp>
      <p:sp>
        <p:nvSpPr>
          <p:cNvPr id="6" name="tl-what-0"/>
          <p:cNvSpPr txBox="1"/>
          <p:nvPr/>
        </p:nvSpPr>
        <p:spPr>
          <a:xfrm>
            <a:off x="548640" y="32004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Literature, design, harness v0.1, Mac pilot</a:t>
            </a:r>
            <a:endParaRPr lang="en-US" sz="1400" dirty="0"/>
          </a:p>
        </p:txBody>
      </p:sp>
      <p:sp>
        <p:nvSpPr>
          <p:cNvPr id="7" name="tl-dot-1"/>
          <p:cNvSpPr/>
          <p:nvPr/>
        </p:nvSpPr>
        <p:spPr>
          <a:xfrm>
            <a:off x="2834640" y="25603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l-when-1"/>
          <p:cNvSpPr txBox="1"/>
          <p:nvPr/>
        </p:nvSpPr>
        <p:spPr>
          <a:xfrm>
            <a:off x="278892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Weeks 5–6</a:t>
            </a:r>
            <a:endParaRPr lang="en-US" sz="1700" dirty="0"/>
          </a:p>
        </p:txBody>
      </p:sp>
      <p:sp>
        <p:nvSpPr>
          <p:cNvPr id="9" name="tl-what-1"/>
          <p:cNvSpPr txBox="1"/>
          <p:nvPr/>
        </p:nvSpPr>
        <p:spPr>
          <a:xfrm>
            <a:off x="2788920" y="32004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Laptop pilot: 2 models × 3–4 quants, MILU</a:t>
            </a:r>
            <a:endParaRPr lang="en-US" sz="1400" dirty="0"/>
          </a:p>
        </p:txBody>
      </p:sp>
      <p:sp>
        <p:nvSpPr>
          <p:cNvPr id="10" name="tl-dot-2"/>
          <p:cNvSpPr/>
          <p:nvPr/>
        </p:nvSpPr>
        <p:spPr>
          <a:xfrm>
            <a:off x="5074920" y="25603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l-when-2"/>
          <p:cNvSpPr txBox="1"/>
          <p:nvPr/>
        </p:nvSpPr>
        <p:spPr>
          <a:xfrm>
            <a:off x="502920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Weeks 7–10</a:t>
            </a:r>
            <a:endParaRPr lang="en-US" sz="1700" dirty="0"/>
          </a:p>
        </p:txBody>
      </p:sp>
      <p:sp>
        <p:nvSpPr>
          <p:cNvPr id="12" name="tl-what-2"/>
          <p:cNvSpPr txBox="1"/>
          <p:nvPr/>
        </p:nvSpPr>
        <p:spPr>
          <a:xfrm>
            <a:off x="5029200" y="32004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Native-speaker validation, fresh contamination-resistant slice</a:t>
            </a:r>
            <a:endParaRPr lang="en-US" sz="1400" dirty="0"/>
          </a:p>
        </p:txBody>
      </p:sp>
      <p:sp>
        <p:nvSpPr>
          <p:cNvPr id="13" name="tl-dot-3"/>
          <p:cNvSpPr/>
          <p:nvPr/>
        </p:nvSpPr>
        <p:spPr>
          <a:xfrm>
            <a:off x="7315200" y="25603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l-when-3"/>
          <p:cNvSpPr txBox="1"/>
          <p:nvPr/>
        </p:nvSpPr>
        <p:spPr>
          <a:xfrm>
            <a:off x="726948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Weeks 11–18</a:t>
            </a:r>
            <a:endParaRPr lang="en-US" sz="1700" dirty="0"/>
          </a:p>
        </p:txBody>
      </p:sp>
      <p:sp>
        <p:nvSpPr>
          <p:cNvPr id="15" name="tl-what-3"/>
          <p:cNvSpPr txBox="1"/>
          <p:nvPr/>
        </p:nvSpPr>
        <p:spPr>
          <a:xfrm>
            <a:off x="7269480" y="32004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sweep: 6–8 models, 4–6 languages, ONNX INT8, phone</a:t>
            </a:r>
            <a:endParaRPr lang="en-US" sz="1400" dirty="0"/>
          </a:p>
        </p:txBody>
      </p:sp>
      <p:sp>
        <p:nvSpPr>
          <p:cNvPr id="16" name="tl-dot-4"/>
          <p:cNvSpPr/>
          <p:nvPr/>
        </p:nvSpPr>
        <p:spPr>
          <a:xfrm>
            <a:off x="9555480" y="25603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l-when-4"/>
          <p:cNvSpPr txBox="1"/>
          <p:nvPr/>
        </p:nvSpPr>
        <p:spPr>
          <a:xfrm>
            <a:off x="95097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Weeks 19–24</a:t>
            </a:r>
            <a:endParaRPr lang="en-US" sz="1700" dirty="0"/>
          </a:p>
        </p:txBody>
      </p:sp>
      <p:sp>
        <p:nvSpPr>
          <p:cNvPr id="18" name="tl-what-4"/>
          <p:cNvSpPr txBox="1"/>
          <p:nvPr/>
        </p:nvSpPr>
        <p:spPr>
          <a:xfrm>
            <a:off x="9509760" y="32004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Pareto analysis, leaderboard, paper, HF release</a:t>
            </a:r>
            <a:endParaRPr lang="en-US" sz="1400" dirty="0"/>
          </a:p>
        </p:txBody>
      </p:sp>
      <p:sp>
        <p:nvSpPr>
          <p:cNvPr id="19" name="tl-note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Done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= Evaluation 1 scope.  Target venues: ACL/EMNLP/NeurIPS workshop (D&amp;B, efficiency, ML4D) + arXiv preprint.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Code, data and results: github.com/pammy01/IndicEdgeBench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Live demo: python -m indicedgebench run configs/smoke_mac.yaml (≈ 2 minutes)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cEdgeBench">
  <a:themeElements>
    <a:clrScheme name="IndicEdgeBench">
      <a:dk1>
        <a:srgbClr val="1B1F2A"/>
      </a:dk1>
      <a:lt1>
        <a:srgbClr val="FFFFFF"/>
      </a:lt1>
      <a:dk2>
        <a:srgbClr val="1F2A55"/>
      </a:dk2>
      <a:lt2>
        <a:srgbClr val="F3F4F8"/>
      </a:lt2>
      <a:accent1>
        <a:srgbClr val="E07A1F"/>
      </a:accent1>
      <a:accent2>
        <a:srgbClr val="1F2A55"/>
      </a:accent2>
      <a:accent3>
        <a:srgbClr val="1B8A7A"/>
      </a:accent3>
      <a:accent4>
        <a:srgbClr val="2A78D6"/>
      </a:accent4>
      <a:accent5>
        <a:srgbClr val="6B7280"/>
      </a:accent5>
      <a:accent6>
        <a:srgbClr val="C2410C"/>
      </a:accent6>
      <a:hlink>
        <a:srgbClr val="2A78D6"/>
      </a:hlink>
      <a:folHlink>
        <a:srgbClr val="6250D6"/>
      </a:folHlink>
    </a:clrScheme>
    <a:fontScheme name="IndicEdgeBen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IndicEdgeBench: Evaluation 1</dc:title>
  <dc:subject>PptxGenJS Presentation</dc:subject>
  <dc:creator>Pammy</dc:creator>
  <cp:lastModifiedBy>Pammy</cp:lastModifiedBy>
  <cp:revision>1</cp:revision>
  <dcterms:created xsi:type="dcterms:W3CDTF">2026-10-29T16:17:35Z</dcterms:created>
  <dcterms:modified xsi:type="dcterms:W3CDTF">2026-10-29T16:17:35Z</dcterms:modified>
</cp:coreProperties>
</file>